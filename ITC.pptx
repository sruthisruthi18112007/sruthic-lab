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8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23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1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29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3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7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629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3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28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6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3B9B1-025D-46CA-AF22-7BEE7A2F2E6E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69E48-C7D6-4193-BA4B-30BF6540F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8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1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126"/>
            <a:ext cx="10713720" cy="862784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THREAD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27911"/>
            <a:ext cx="10713720" cy="526433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Thread</a:t>
            </a:r>
            <a:r>
              <a:rPr lang="en-US" dirty="0" smtClean="0">
                <a:solidFill>
                  <a:srgbClr val="C00000"/>
                </a:solidFill>
              </a:rPr>
              <a:t>:</a:t>
            </a:r>
            <a:r>
              <a:rPr lang="en-US" dirty="0" smtClean="0"/>
              <a:t> Smallest execution unit within a process</a:t>
            </a:r>
            <a:br>
              <a:rPr lang="en-US" dirty="0" smtClean="0"/>
            </a:br>
            <a:r>
              <a:rPr lang="en-US" dirty="0" smtClean="0"/>
              <a:t>→ </a:t>
            </a:r>
            <a:r>
              <a:rPr lang="en-US" sz="2200" dirty="0" smtClean="0"/>
              <a:t>Enables </a:t>
            </a:r>
            <a:r>
              <a:rPr lang="en-US" sz="2200" b="1" dirty="0" smtClean="0"/>
              <a:t>parallelism, responsiveness, better CPU use</a:t>
            </a:r>
            <a:r>
              <a:rPr lang="en-US" sz="2200" dirty="0" smtClean="0"/>
              <a:t> 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Multithreading Suitability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 Independent / I-O task</a:t>
            </a:r>
          </a:p>
          <a:p>
            <a:pPr marL="0" indent="0">
              <a:buNone/>
            </a:pPr>
            <a:r>
              <a:rPr lang="en-US" sz="2400" dirty="0" smtClean="0"/>
              <a:t>     Sequential / tightly dependent tasks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→ Not all tasks benefit (overhead + complexity) 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Context &amp; Switching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      </a:t>
            </a:r>
            <a:r>
              <a:rPr lang="en-US" sz="2400" dirty="0" smtClean="0"/>
              <a:t>Context = thread state (PC, registers) 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Context switch = CPU switches threads (costly if frequent) 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Shared Resources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en-US" dirty="0" smtClean="0"/>
              <a:t>Threads share memory → fast but risky </a:t>
            </a:r>
          </a:p>
          <a:p>
            <a:pPr lvl="1"/>
            <a:r>
              <a:rPr lang="en-US" dirty="0" smtClean="0"/>
              <a:t>Issues: race conditions </a:t>
            </a:r>
          </a:p>
          <a:p>
            <a:pPr lvl="1"/>
            <a:r>
              <a:rPr lang="en-US" dirty="0" smtClean="0"/>
              <a:t>Solution: synchronization (locks) </a:t>
            </a:r>
          </a:p>
          <a:p>
            <a:r>
              <a:rPr lang="en-US" b="1" dirty="0" smtClean="0"/>
              <a:t>Thread States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rgbClr val="92D050"/>
                </a:solidFill>
              </a:rPr>
              <a:t>New → Ready → Running → Waiting → Terminated</a:t>
            </a:r>
            <a:r>
              <a:rPr lang="en-US" dirty="0" smtClean="0">
                <a:solidFill>
                  <a:srgbClr val="92D050"/>
                </a:solidFill>
              </a:rPr>
              <a:t>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4407137"/>
            <a:ext cx="5867400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7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/>
          <a:lstStyle/>
          <a:p>
            <a:pPr algn="ctr"/>
            <a:r>
              <a:rPr lang="en-US" b="1" dirty="0" smtClean="0"/>
              <a:t>PROCESS VS THREAD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5920"/>
            <a:ext cx="10515600" cy="4531043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 smtClean="0">
                <a:solidFill>
                  <a:srgbClr val="C00000"/>
                </a:solidFill>
              </a:rPr>
              <a:t>Process</a:t>
            </a:r>
          </a:p>
          <a:p>
            <a:r>
              <a:rPr lang="en-US" sz="2200" dirty="0" smtClean="0"/>
              <a:t>Independent program in execution </a:t>
            </a:r>
          </a:p>
          <a:p>
            <a:r>
              <a:rPr lang="en-US" sz="2200" dirty="0" smtClean="0"/>
              <a:t>Has </a:t>
            </a:r>
            <a:r>
              <a:rPr lang="en-US" sz="2200" b="1" dirty="0" smtClean="0"/>
              <a:t>separate memory space</a:t>
            </a:r>
            <a:r>
              <a:rPr lang="en-US" sz="2200" dirty="0" smtClean="0"/>
              <a:t> (high isolation) </a:t>
            </a:r>
          </a:p>
          <a:p>
            <a:r>
              <a:rPr lang="en-US" sz="2200" b="1" dirty="0" smtClean="0"/>
              <a:t>Heavyweight</a:t>
            </a:r>
            <a:r>
              <a:rPr lang="en-US" sz="2200" dirty="0" smtClean="0"/>
              <a:t> (more resource usage) </a:t>
            </a:r>
          </a:p>
          <a:p>
            <a:r>
              <a:rPr lang="en-US" sz="2200" dirty="0" smtClean="0"/>
              <a:t>Communication via </a:t>
            </a:r>
            <a:r>
              <a:rPr lang="en-US" sz="2200" b="1" dirty="0" smtClean="0"/>
              <a:t>IPC (Inter-Process Communication)</a:t>
            </a:r>
            <a:r>
              <a:rPr lang="en-US" sz="2200" dirty="0" smtClean="0"/>
              <a:t> </a:t>
            </a:r>
          </a:p>
          <a:p>
            <a:r>
              <a:rPr lang="en-US" sz="2200" b="1" dirty="0" smtClean="0"/>
              <a:t>Slower context switching</a:t>
            </a:r>
            <a:endParaRPr lang="en-US" sz="2200" dirty="0" smtClean="0"/>
          </a:p>
          <a:p>
            <a:r>
              <a:rPr lang="en-US" sz="2600" b="1" dirty="0" smtClean="0">
                <a:solidFill>
                  <a:srgbClr val="C00000"/>
                </a:solidFill>
              </a:rPr>
              <a:t>Thread</a:t>
            </a:r>
          </a:p>
          <a:p>
            <a:r>
              <a:rPr lang="en-US" sz="2200" dirty="0" smtClean="0"/>
              <a:t>Smallest unit within a process </a:t>
            </a:r>
          </a:p>
          <a:p>
            <a:r>
              <a:rPr lang="en-US" sz="2200" dirty="0" smtClean="0"/>
              <a:t>Shares </a:t>
            </a:r>
            <a:r>
              <a:rPr lang="en-US" sz="2200" b="1" dirty="0" smtClean="0"/>
              <a:t>memory &amp; resources</a:t>
            </a:r>
            <a:r>
              <a:rPr lang="en-US" sz="2200" dirty="0" smtClean="0"/>
              <a:t> of process </a:t>
            </a:r>
          </a:p>
          <a:p>
            <a:r>
              <a:rPr lang="en-US" sz="2200" b="1" dirty="0" smtClean="0"/>
              <a:t>Lightweight</a:t>
            </a:r>
            <a:r>
              <a:rPr lang="en-US" sz="2200" dirty="0" smtClean="0"/>
              <a:t> (faster execution) </a:t>
            </a:r>
          </a:p>
          <a:p>
            <a:r>
              <a:rPr lang="en-US" sz="2200" dirty="0" smtClean="0"/>
              <a:t>Communication is </a:t>
            </a:r>
            <a:r>
              <a:rPr lang="en-US" sz="2200" b="1" dirty="0" smtClean="0"/>
              <a:t>easy (shared memory)</a:t>
            </a:r>
            <a:r>
              <a:rPr lang="en-US" sz="2200" dirty="0" smtClean="0"/>
              <a:t> </a:t>
            </a:r>
          </a:p>
          <a:p>
            <a:r>
              <a:rPr lang="en-US" sz="2200" b="1" dirty="0" smtClean="0"/>
              <a:t>Faster context switching</a:t>
            </a:r>
            <a:r>
              <a:rPr lang="en-US" sz="2200" dirty="0" smtClean="0"/>
              <a:t> </a:t>
            </a:r>
          </a:p>
          <a:p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125" y="2080280"/>
            <a:ext cx="4572000" cy="302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1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49086"/>
            <a:ext cx="10515600" cy="4702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THREAD LIFE CYCLE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9349"/>
            <a:ext cx="10515600" cy="4949054"/>
          </a:xfrm>
        </p:spPr>
        <p:txBody>
          <a:bodyPr>
            <a:normAutofit/>
          </a:bodyPr>
          <a:lstStyle/>
          <a:p>
            <a:r>
              <a:rPr lang="en-US" sz="2000" b="1" dirty="0" smtClean="0"/>
              <a:t>Start</a:t>
            </a:r>
            <a:r>
              <a:rPr lang="en-US" sz="2000" dirty="0" smtClean="0"/>
              <a:t> → Thread is created </a:t>
            </a:r>
          </a:p>
          <a:p>
            <a:r>
              <a:rPr lang="en-US" sz="2000" b="1" dirty="0" smtClean="0"/>
              <a:t>Run (Time Slice)</a:t>
            </a:r>
            <a:r>
              <a:rPr lang="en-US" sz="2000" dirty="0" smtClean="0"/>
              <a:t> → Executes for allotted CPU time </a:t>
            </a:r>
          </a:p>
          <a:p>
            <a:r>
              <a:rPr lang="en-US" sz="2000" b="1" dirty="0" smtClean="0"/>
              <a:t>Pause (Blocked/Waiting)</a:t>
            </a:r>
            <a:r>
              <a:rPr lang="en-US" sz="2000" dirty="0" smtClean="0"/>
              <a:t> → Waiting for I/O or resource. </a:t>
            </a:r>
          </a:p>
          <a:p>
            <a:r>
              <a:rPr lang="en-US" sz="2000" b="1" dirty="0" smtClean="0"/>
              <a:t>Resume</a:t>
            </a:r>
            <a:r>
              <a:rPr lang="en-US" sz="2000" dirty="0" smtClean="0"/>
              <a:t> → Moves back to ready/running state </a:t>
            </a:r>
          </a:p>
          <a:p>
            <a:r>
              <a:rPr lang="en-US" sz="2000" b="1" dirty="0" smtClean="0"/>
              <a:t>Stop (Terminated)</a:t>
            </a:r>
            <a:r>
              <a:rPr lang="en-US" sz="2000" dirty="0" smtClean="0"/>
              <a:t> → Execution completed </a:t>
            </a:r>
          </a:p>
          <a:p>
            <a:pPr marL="0" indent="0">
              <a:buNone/>
            </a:pPr>
            <a:r>
              <a:rPr lang="en-US" sz="26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 of Execution (Scheduling)</a:t>
            </a:r>
          </a:p>
          <a:p>
            <a:r>
              <a:rPr lang="en-US" sz="2000" b="1" dirty="0" smtClean="0"/>
              <a:t>FIFO (First In First Out)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→ Executes threads in arrival order </a:t>
            </a:r>
          </a:p>
          <a:p>
            <a:r>
              <a:rPr lang="en-US" sz="2000" b="1" dirty="0" smtClean="0"/>
              <a:t>Priority Scheduling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→ Higher priority threads run first </a:t>
            </a:r>
          </a:p>
          <a:p>
            <a:r>
              <a:rPr lang="en-US" sz="2000" b="1" dirty="0" smtClean="0"/>
              <a:t>Shortest Job First (SJF)</a:t>
            </a:r>
            <a:endParaRPr lang="en-US" sz="2000" dirty="0"/>
          </a:p>
          <a:p>
            <a:r>
              <a:rPr lang="en-US" sz="2000" dirty="0" smtClean="0"/>
              <a:t>→ Thread with least execution time runs first</a:t>
            </a:r>
          </a:p>
          <a:p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234" y="2498917"/>
            <a:ext cx="4672574" cy="258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6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125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THREAD</vt:lpstr>
      <vt:lpstr>PROCESS VS THREAD</vt:lpstr>
      <vt:lpstr>THREAD LIFE CYCLE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CSA</dc:creator>
  <cp:lastModifiedBy>CSA</cp:lastModifiedBy>
  <cp:revision>8</cp:revision>
  <dcterms:created xsi:type="dcterms:W3CDTF">2026-04-10T06:15:01Z</dcterms:created>
  <dcterms:modified xsi:type="dcterms:W3CDTF">2026-04-10T07:35:21Z</dcterms:modified>
</cp:coreProperties>
</file>